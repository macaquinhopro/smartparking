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5303520" cy="4023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548640"/>
            <a:ext cx="73152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548640"/>
            <a:ext cx="2651760" cy="4023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05840"/>
            <a:ext cx="2103120" cy="13716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60320"/>
            <a:ext cx="1371600" cy="9144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66160"/>
            <a:ext cx="731520" cy="7315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566160"/>
            <a:ext cx="731520" cy="7315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520" y="777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Smart Parking IoT</a:t>
            </a:r>
            <a:endParaRPr lang="en-US" sz="3000" dirty="0"/>
          </a:p>
        </p:txBody>
      </p:sp>
      <p:sp>
        <p:nvSpPr>
          <p:cNvPr id="12" name="Text 6"/>
          <p:cNvSpPr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Integral y Alertas Sísmicas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3152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funcional que monitorea disponibilidad de parqueadero,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ambientales y detecta eventos sísmicos en tiempo real.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3152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Tecnologías: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31520" y="3337560"/>
            <a:ext cx="1463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73152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2377440" y="3337560"/>
            <a:ext cx="1463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23774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(TLS)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023360" y="3337560"/>
            <a:ext cx="1463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02336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731520" y="3721608"/>
            <a:ext cx="1463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3152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2377440" y="3721608"/>
            <a:ext cx="1463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237744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023360" y="3721608"/>
            <a:ext cx="1463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402336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Sistemas Embebidos  •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Visión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información en tiempo real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1325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no saben si hay espacios disponibles sin ir físicamente al parqueadero.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2194560"/>
            <a:ext cx="36576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 de emergencia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43000" y="2606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sistemas de alerta temprana ante sismos en parqueaderos tradicionales.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3474720"/>
            <a:ext cx="36576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474720"/>
            <a:ext cx="64008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monitoreo ambiental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43000" y="3886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y humedad elevadas afectan vehículos y no son monitoreadas.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0" y="914400"/>
            <a:ext cx="4206240" cy="347472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Nuestra Solución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5488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para un parqueadero inteligente que: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5488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Detecta ocupación con sensor ultrasónico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54880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Mide temperatura y humedad (DHT22)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54880" y="2615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Detecta sismos con MPU6050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54880" y="2962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Envía datos por MQTT con TLS cifrado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754880" y="3310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Sincroniza hora via NTP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5488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Dashboard en tiempo real (Firebase)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754880" y="4005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 móvil con alertas push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Problema &amp; Visión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28800" cy="338328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HC-SR04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DHT22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MPU6050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260604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304288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914400"/>
            <a:ext cx="1920240" cy="3383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914400"/>
            <a:ext cx="1920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914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(MCU)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WiFi 2.4GHz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MQTT Client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NTP Sync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 1.2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2606040"/>
            <a:ext cx="36576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90288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1828800" cy="3383280"/>
          </a:xfrm>
          <a:prstGeom prst="rect">
            <a:avLst/>
          </a:prstGeom>
          <a:solidFill>
            <a:srgbClr val="1B3A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1440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Mosquitto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TLS/SSL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Topics pub/sub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8883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260604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784848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914400"/>
            <a:ext cx="1920240" cy="3383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0" y="914400"/>
            <a:ext cx="19202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914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UI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DB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Web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Alerts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I²C / Digital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004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TLS :8883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9496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 Firebase SDK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Arquitectura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Hardware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principal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 Dual-Core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 SRAM | WiFi + BT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~240mA con WiFi activo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$30.000 COP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56032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5727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2cm – 400cm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Resol.: 3mm | 5V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vehículo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$8.000 COP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56032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14400"/>
            <a:ext cx="25603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Humedad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5727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-40°C a 80°C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Humedad: 0-100% RH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±0.5°C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$15.000 COP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56032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80360"/>
            <a:ext cx="25603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Acelerómetro + Giroscopio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5387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IMU | I²C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sismos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complementario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$10.000 COP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56032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25603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pasivos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5387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Protoboard, cables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Resistencias, LEDs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USB 5V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4297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 COP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880360"/>
            <a:ext cx="2560320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429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~$88.000 COP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1792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22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Hardware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con TLS &amp; Temas del Broker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822960"/>
            <a:ext cx="10058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822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5603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(JSON)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822960"/>
            <a:ext cx="34747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170432"/>
            <a:ext cx="19202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parking/spot/1/status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1170432"/>
            <a:ext cx="10058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170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170432"/>
            <a:ext cx="25603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{"occupied": true, "dist_cm": 12}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60720" y="1170432"/>
            <a:ext cx="34747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170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ocupación de la plaza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645920"/>
            <a:ext cx="192024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parking/env/1/data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1645920"/>
            <a:ext cx="100584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1645920"/>
            <a:ext cx="256032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{"temp": 24.5, "hum": 60.2}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760720" y="1645920"/>
            <a:ext cx="347472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ambientales DHT22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121408"/>
            <a:ext cx="19202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parking/seismic/1/alert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2121408"/>
            <a:ext cx="10058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2121408"/>
            <a:ext cx="25603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{"magnitude": 3.2, "axis":"XYZ"}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760720" y="2121408"/>
            <a:ext cx="34747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2121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sísmica MPU6050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596896"/>
            <a:ext cx="192024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5968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parking/system/status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94560" y="2596896"/>
            <a:ext cx="100584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2596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2596896"/>
            <a:ext cx="256032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25968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{"uptime": 3600, "rssi": -65}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760720" y="2596896"/>
            <a:ext cx="3474720" cy="4572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25968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del sistema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072384"/>
            <a:ext cx="19202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072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parking/config/1/cmd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94560" y="3072384"/>
            <a:ext cx="10058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3072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3072384"/>
            <a:ext cx="25603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30723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{"threshold": 15, "interval": 5}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760720" y="3072384"/>
            <a:ext cx="34747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3072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configuración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657600"/>
            <a:ext cx="411480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67328"/>
            <a:ext cx="365760" cy="36576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96012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TLS 1.2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457200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cifrada en puerto 8883  •  Certificados CA  •  Client ID único por dispositivo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663440" y="3657600"/>
            <a:ext cx="4114800" cy="1051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4846320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Sincronización NTP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4846320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pool.ntp.org  •  Zona horaria America/Bogota  •  Timestamps ISO-8601 en todos los mensajes MQTT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MQTT &amp; Protocolos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Endpoints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583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914400"/>
            <a:ext cx="4114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9144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896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225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— verifica que el servidor está activo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896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66360" y="896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2252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1225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"ok", "uptime": 3600 }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627632"/>
            <a:ext cx="859536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719072"/>
            <a:ext cx="6583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7190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1560" y="1719072"/>
            <a:ext cx="4114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17190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/api/parking/spots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espacios y su estado actual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17007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20299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7800" y="2029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 "id": 1, "occupied": true } ]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432304"/>
            <a:ext cx="859536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523744"/>
            <a:ext cx="6583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5237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1560" y="2523744"/>
            <a:ext cx="4114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25237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/api/parking/spots/:id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una plaza específica + historial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2505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0" y="2834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5780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"id":1, "occupied":true, "temp":24.5 }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3236976"/>
            <a:ext cx="859536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328416"/>
            <a:ext cx="6583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3284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51560" y="3328416"/>
            <a:ext cx="4114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33284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5448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/api/alerts/seismic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3639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alertas sísmicas registradas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3310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0" y="3639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57800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 "ts": "...", "mag": 3.2 } ]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4041648"/>
            <a:ext cx="859536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4133088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1330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51560" y="4133088"/>
            <a:ext cx="4114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1560" y="41330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5544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/api/config/threshold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554480" y="4443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umbral de detección del sensor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0" y="41148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6636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"dist_cm": 15 }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0" y="44439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57800" y="4443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"updated": true }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API REST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— Diagrama de Secuencia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0058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(Hardware)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0" cy="320040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777240"/>
            <a:ext cx="10058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777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(MCU)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0" cy="3200400"/>
          </a:xfrm>
          <a:prstGeom prst="line">
            <a:avLst/>
          </a:prstGeom>
          <a:noFill/>
          <a:ln w="12700">
            <a:solidFill>
              <a:srgbClr val="1565C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297680" y="777240"/>
            <a:ext cx="1005840" cy="6400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777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Server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(pool.ntp.org)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0" cy="320040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217920" y="777240"/>
            <a:ext cx="10058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777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(Mosquitto TLS)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0" cy="32004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046720" y="777240"/>
            <a:ext cx="10058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777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Móvil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549640" y="1417320"/>
            <a:ext cx="0" cy="320040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7240" y="1600200"/>
            <a:ext cx="20116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435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1399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sensores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88920" y="1920240"/>
            <a:ext cx="20116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7556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46120" y="1719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NTP (UDP:123)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88920" y="2240280"/>
            <a:ext cx="20116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743200" y="2075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46120" y="2039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actual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88920" y="2560320"/>
            <a:ext cx="39319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3957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06240" y="2359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 (TLS:8883)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20840" y="2880360"/>
            <a:ext cx="18288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86600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 Firebase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88920" y="3200400"/>
            <a:ext cx="57607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0" y="3035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0" y="2999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/ Config update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77240" y="3520440"/>
            <a:ext cx="20116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731520" y="3355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34440" y="3319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LED estado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Flujo de Datos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Memoria &amp; Librerías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(Programa)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43779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 —  812 KB / 4 MB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(SRAM)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3931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01952"/>
            <a:ext cx="17693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93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—  234 KB / 520 KB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Datos generados por el IDE al verificar/cargar el sketch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Utilizadas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PubSubClient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 para ESP32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23160" y="3063240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sensor library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3246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DHT11/22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/ Wire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666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Acelerómetro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23160" y="3483864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WiFiClientSecure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14600" y="3666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sobre WiFi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904488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NTPClient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087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 tiempo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23160" y="3904488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ESP32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4087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Firebase RT DB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4325112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251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07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de payloads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23160" y="4325112"/>
            <a:ext cx="1920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3251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NewPing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14600" y="4507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 HC-SR04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822960"/>
            <a:ext cx="4297680" cy="1920240"/>
          </a:xfrm>
          <a:prstGeom prst="rect">
            <a:avLst/>
          </a:prstGeom>
          <a:solidFill>
            <a:srgbClr val="1B3A5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Limitaciones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1280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1 plaza (prototipo)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1536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 de WiFi 2.4GHz estable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1792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batería (requiere corriente)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20482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Latencia MQTT ~100-300ms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304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Calibración manual del MPU6050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2880360"/>
            <a:ext cx="4297680" cy="1920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Mejoras Futuras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54880" y="3337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Escalar a múltiples plazas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3593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Modo deep-sleep (bajo consumo)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54880" y="3849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Cámara para reconocimiento de placas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41056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con pasarela de pagos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54880" y="4361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 para predicción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Memoria &amp; Librerías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Arquitectónico &amp; Resultados MPU6050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052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850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29844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umbral de aceleración en ejes X, Y, Z que filtre vibraciones comunes y detecte sismos reales.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82296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8229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9052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850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129844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aislada MPU6050 → ESP32. Datos en crudo: simulación de parqueo (baja amplitud) vs. golpes/sismos (alta amplitud).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822960"/>
            <a:ext cx="274320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9052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850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129844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definido: aceleración &gt; 1.5g en cualquier eje → alerta sísmica. Filtro complementario a 0.98 Hz reduce ruido.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Demo en Vivo — Checklist de Sustentación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274320" y="3611880"/>
            <a:ext cx="4206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580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conectado y publicando al broker MQTT con TLS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63440" y="3611880"/>
            <a:ext cx="4206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5488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7492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Firebase actualizándose en tiempo real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" y="3977640"/>
            <a:ext cx="4206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6576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8580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recibiendo datos (temperatura, estado plaza)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663440" y="3977640"/>
            <a:ext cx="4206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07492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sismo → alerta push en la app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74320" y="4343400"/>
            <a:ext cx="4206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65760" y="4343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85800" y="4343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/api/health respondiendo 200 OK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663440" y="4343400"/>
            <a:ext cx="420624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54880" y="4343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074920" y="4343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sincronizada NTP en timestamps de mensajes MQTT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  •  Spike &amp; Demo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640080"/>
            <a:ext cx="6400800" cy="3931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640080"/>
            <a:ext cx="6400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868680"/>
            <a:ext cx="12801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IoT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Integral y Alertas Sísmicas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45920" y="2880360"/>
            <a:ext cx="11887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4592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45920" y="3538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08960" y="2880360"/>
            <a:ext cx="11887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0896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108960" y="3538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0" y="2880360"/>
            <a:ext cx="11887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572000" y="3538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2880360"/>
            <a:ext cx="11887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3504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035040" y="3538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Sincronizado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37160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disponible con README completo: Diagrama, Endpoints, Temas MQTT, Librerías y Memoria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IoT</dc:title>
  <dc:subject>PptxGenJS Presentation</dc:subject>
  <dc:creator>PptxGenJS</dc:creator>
  <cp:lastModifiedBy>PptxGenJS</cp:lastModifiedBy>
  <cp:revision>1</cp:revision>
  <dcterms:created xsi:type="dcterms:W3CDTF">2026-05-20T01:45:47Z</dcterms:created>
  <dcterms:modified xsi:type="dcterms:W3CDTF">2026-05-20T01:45:47Z</dcterms:modified>
</cp:coreProperties>
</file>